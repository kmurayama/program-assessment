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3" r:id="rId1"/>
  </p:sldMasterIdLst>
  <p:sldIdLst>
    <p:sldId id="256" r:id="rId2"/>
    <p:sldId id="273" r:id="rId3"/>
    <p:sldId id="258" r:id="rId4"/>
    <p:sldId id="274" r:id="rId5"/>
    <p:sldId id="275" r:id="rId6"/>
    <p:sldId id="276" r:id="rId7"/>
    <p:sldId id="263" r:id="rId8"/>
    <p:sldId id="264" r:id="rId9"/>
    <p:sldId id="265" r:id="rId10"/>
    <p:sldId id="266" r:id="rId11"/>
    <p:sldId id="267" r:id="rId12"/>
    <p:sldId id="268" r:id="rId13"/>
    <p:sldId id="27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3" autoAdjust="0"/>
    <p:restoredTop sz="94711" autoAdjust="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8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9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4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9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5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7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1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7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1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5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Developing Leadership Skills through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ACBSP Region 2 Conference</a:t>
            </a:r>
            <a:br/>
            <a:br/>
            <a:r>
              <a:t>Edmund Matecki</a:t>
            </a:r>
            <a:r>
              <a:rPr baseline="30000">
                <a:hlinkClick r:id="rId2" action="ppaction://hlinksldjump"/>
              </a:rPr>
              <a:t>1</a:t>
            </a:r>
            <a:br/>
            <a:r>
              <a:t>Kentaro Murayama</a:t>
            </a:r>
            <a:r>
              <a:rPr baseline="30000">
                <a:hlinkClick r:id="rId2" action="ppaction://hlinksldjump"/>
              </a:rPr>
              <a:t>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November 5-6,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Motivation: Why </a:t>
            </a:r>
            <a:r>
              <a:rPr lang="en-US" dirty="0"/>
              <a:t>C</a:t>
            </a:r>
            <a:r>
              <a:rPr dirty="0"/>
              <a:t>are about </a:t>
            </a:r>
            <a:r>
              <a:rPr lang="en-US" dirty="0"/>
              <a:t>L</a:t>
            </a:r>
            <a:r>
              <a:rPr dirty="0"/>
              <a:t>eadership?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Employer </a:t>
            </a:r>
            <a:r>
              <a:rPr dirty="0"/>
              <a:t>Survey</a:t>
            </a:r>
          </a:p>
          <a:p>
            <a:pPr lvl="1"/>
            <a:r>
              <a:rPr dirty="0"/>
              <a:t>Initial </a:t>
            </a:r>
            <a:r>
              <a:rPr lang="en-US" dirty="0"/>
              <a:t>A</a:t>
            </a:r>
            <a:r>
              <a:rPr dirty="0"/>
              <a:t>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Change</a:t>
            </a:r>
          </a:p>
        </p:txBody>
      </p:sp>
      <p:pic>
        <p:nvPicPr>
          <p:cNvPr id="3" name="Picture 1" descr="slides_acbsp_regional_03_files/figure-pptx/unnamed-chunk-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43300" y="2184400"/>
            <a:ext cx="5080000" cy="406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Assessing Leadership: Business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t>LO7: Discern ethical choices and critically evaluate the ethical choices of others.</a:t>
            </a:r>
          </a:p>
          <a:p>
            <a:pPr lvl="2"/>
            <a:r>
              <a:t>Internal: BUS 499 International ethics case Rows PLO7 a,b,c</a:t>
            </a:r>
          </a:p>
          <a:p>
            <a:pPr lvl="2"/>
            <a:r>
              <a:t>External: Peregrine Ethics</a:t>
            </a:r>
          </a:p>
          <a:p>
            <a:pPr lvl="1"/>
            <a:r>
              <a:t>LO8: Evaluate socio-cultural and international diversity variables in decision making.</a:t>
            </a:r>
          </a:p>
          <a:p>
            <a:pPr lvl="2"/>
            <a:r>
              <a:t>Internal: BUS 499 International ethics case Rows PLO8 a,b,c</a:t>
            </a:r>
          </a:p>
          <a:p>
            <a:pPr lvl="2"/>
            <a:r>
              <a:t>External: Peregrine HR</a:t>
            </a:r>
          </a:p>
          <a:p>
            <a:pPr lvl="1"/>
            <a:r>
              <a:t>LO9: Work collaboratively with and provide feedback to others in a team setting.</a:t>
            </a:r>
          </a:p>
          <a:p>
            <a:pPr lvl="2"/>
            <a:r>
              <a:t>Internal: Team Simulation Peer Feedback #2 overall score from rubric in D2L</a:t>
            </a:r>
          </a:p>
          <a:p>
            <a:pPr lvl="2"/>
            <a:r>
              <a:t>External: Peregrine Org Behavior</a:t>
            </a:r>
          </a:p>
          <a:p>
            <a:pPr lvl="1"/>
            <a:r>
              <a:t>LO10: Reflect on personal leadership growth and potential.</a:t>
            </a:r>
          </a:p>
          <a:p>
            <a:pPr lvl="2"/>
            <a:r>
              <a:t>Internal: Final reflection paper. BUS 499 Reflection and Development Plan Rows 1 and 2</a:t>
            </a:r>
          </a:p>
          <a:p>
            <a:pPr lvl="2"/>
            <a:r>
              <a:t>External: Peregrine Leadership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3424"/>
          </a:xfrm>
        </p:spPr>
        <p:txBody>
          <a:bodyPr/>
          <a:lstStyle/>
          <a:p>
            <a:r>
              <a:rPr lang="en-US" dirty="0"/>
              <a:t>Multi-pronged Assessment Regime</a:t>
            </a:r>
          </a:p>
        </p:txBody>
      </p:sp>
      <p:sp>
        <p:nvSpPr>
          <p:cNvPr id="5" name="Oval 4"/>
          <p:cNvSpPr/>
          <p:nvPr/>
        </p:nvSpPr>
        <p:spPr>
          <a:xfrm>
            <a:off x="8980227" y="3016156"/>
            <a:ext cx="1733266" cy="11464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37176" y="3220029"/>
            <a:ext cx="1419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/>
              <a:t>Learning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8227" y="2736553"/>
            <a:ext cx="2797792" cy="104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408228" y="4099535"/>
            <a:ext cx="2797792" cy="10456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408227" y="1419367"/>
            <a:ext cx="2797792" cy="9979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408228" y="5459106"/>
            <a:ext cx="2797792" cy="9962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408227" y="1564377"/>
            <a:ext cx="2797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/>
              <a:t>Course-embedded summative assessments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705" y="2889071"/>
            <a:ext cx="25248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/>
              <a:t>Peregrine Exit Exam</a:t>
            </a:r>
          </a:p>
          <a:p>
            <a:pPr algn="ctr"/>
            <a:r>
              <a:rPr lang="en-US" sz="2100"/>
              <a:t>Aligned CPC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919" y="4258101"/>
            <a:ext cx="24770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/>
              <a:t>Student Exit Survey Aligned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705" y="5426334"/>
            <a:ext cx="252483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/>
              <a:t>External Stakeholder </a:t>
            </a:r>
          </a:p>
          <a:p>
            <a:pPr algn="ctr"/>
            <a:r>
              <a:rPr lang="en-US" sz="2100"/>
              <a:t>Survey Aligned 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402" y="2736553"/>
            <a:ext cx="2355376" cy="2408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227162" y="3186826"/>
            <a:ext cx="178785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dirty="0"/>
              <a:t>Course-embedded Formative Assessments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425588" y="2142699"/>
            <a:ext cx="832513" cy="746372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548418" y="3439236"/>
            <a:ext cx="723331" cy="188499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448904" y="4414621"/>
            <a:ext cx="809197" cy="207749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425588" y="5145206"/>
            <a:ext cx="832513" cy="655093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7451678" y="1965278"/>
            <a:ext cx="1528549" cy="122154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492621" y="3281584"/>
            <a:ext cx="1310185" cy="15765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7451678" y="3998794"/>
            <a:ext cx="1528549" cy="51861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7492621" y="4414621"/>
            <a:ext cx="1801504" cy="138567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9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697" y="65320"/>
            <a:ext cx="10515600" cy="1193787"/>
          </a:xfrm>
        </p:spPr>
        <p:txBody>
          <a:bodyPr>
            <a:normAutofit/>
          </a:bodyPr>
          <a:lstStyle/>
          <a:p>
            <a:r>
              <a:rPr lang="en-US" dirty="0"/>
              <a:t>Automation of Data Collection &amp;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9090" y="1838380"/>
            <a:ext cx="2688609" cy="45958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64410" y="2560212"/>
            <a:ext cx="24293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Data Visualizations</a:t>
            </a:r>
          </a:p>
          <a:p>
            <a:pPr algn="ctr"/>
            <a:endParaRPr lang="en-US" sz="3200"/>
          </a:p>
          <a:p>
            <a:pPr algn="ctr"/>
            <a:endParaRPr lang="en-US" sz="3200"/>
          </a:p>
          <a:p>
            <a:pPr algn="ctr"/>
            <a:r>
              <a:rPr lang="en-US" sz="3200"/>
              <a:t>Assessment</a:t>
            </a:r>
          </a:p>
          <a:p>
            <a:pPr algn="ctr"/>
            <a:r>
              <a:rPr lang="en-US" sz="3200"/>
              <a:t>Reports</a:t>
            </a:r>
          </a:p>
        </p:txBody>
      </p:sp>
      <p:sp>
        <p:nvSpPr>
          <p:cNvPr id="5" name="Oval 4"/>
          <p:cNvSpPr/>
          <p:nvPr/>
        </p:nvSpPr>
        <p:spPr>
          <a:xfrm>
            <a:off x="373391" y="2468350"/>
            <a:ext cx="2074459" cy="11054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5796" y="4572428"/>
            <a:ext cx="2074459" cy="9685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9520" y="2667298"/>
            <a:ext cx="1705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/>
              <a:t>Summative</a:t>
            </a:r>
          </a:p>
          <a:p>
            <a:pPr algn="ctr"/>
            <a:r>
              <a:rPr lang="en-US" sz="2100"/>
              <a:t>D2L Rubrics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034" y="4659813"/>
            <a:ext cx="1705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/>
              <a:t>Formative</a:t>
            </a:r>
          </a:p>
          <a:p>
            <a:pPr algn="ctr"/>
            <a:r>
              <a:rPr lang="en-US" sz="2100"/>
              <a:t>D2L Rubrics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7889" y="3405962"/>
            <a:ext cx="1774208" cy="1158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294355" y="3521120"/>
            <a:ext cx="1665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 Support</a:t>
            </a:r>
          </a:p>
          <a:p>
            <a:pPr algn="ctr"/>
            <a:r>
              <a:rPr lang="en-US"/>
              <a:t>Downloads Rubric Data</a:t>
            </a:r>
          </a:p>
        </p:txBody>
      </p:sp>
      <p:sp>
        <p:nvSpPr>
          <p:cNvPr id="11" name="Oval 10"/>
          <p:cNvSpPr/>
          <p:nvPr/>
        </p:nvSpPr>
        <p:spPr>
          <a:xfrm>
            <a:off x="6791897" y="2838130"/>
            <a:ext cx="1460311" cy="2307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04495" y="3608744"/>
            <a:ext cx="1460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/>
              <a:t>Proprietary R code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352431" y="3972034"/>
            <a:ext cx="57320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193673" y="3965209"/>
            <a:ext cx="532263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489084" y="3248851"/>
            <a:ext cx="336770" cy="3249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580907" y="4673656"/>
            <a:ext cx="331253" cy="3134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2097989" y="1955465"/>
            <a:ext cx="6904244" cy="11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2728412" y="6097730"/>
            <a:ext cx="6197225" cy="1533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37520" y="1869344"/>
            <a:ext cx="409432" cy="382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625608" y="1841990"/>
            <a:ext cx="395785" cy="3548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63175" y="2068009"/>
            <a:ext cx="282621" cy="3661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6" idx="5"/>
          </p:cNvCxnSpPr>
          <p:nvPr/>
        </p:nvCxnSpPr>
        <p:spPr>
          <a:xfrm>
            <a:off x="404407" y="2380567"/>
            <a:ext cx="172672" cy="209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4"/>
          </p:cNvCxnSpPr>
          <p:nvPr/>
        </p:nvCxnSpPr>
        <p:spPr>
          <a:xfrm>
            <a:off x="942236" y="2251482"/>
            <a:ext cx="80206" cy="205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5" idx="4"/>
          </p:cNvCxnSpPr>
          <p:nvPr/>
        </p:nvCxnSpPr>
        <p:spPr>
          <a:xfrm flipH="1">
            <a:off x="1721142" y="2196832"/>
            <a:ext cx="102359" cy="262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82308" y="5751151"/>
            <a:ext cx="360527" cy="3661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385247" y="6067999"/>
            <a:ext cx="360527" cy="3661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292824" y="5888970"/>
            <a:ext cx="360527" cy="3661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/>
          <p:cNvCxnSpPr>
            <a:stCxn id="48" idx="7"/>
          </p:cNvCxnSpPr>
          <p:nvPr/>
        </p:nvCxnSpPr>
        <p:spPr>
          <a:xfrm flipV="1">
            <a:off x="790037" y="5426041"/>
            <a:ext cx="232405" cy="378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9" idx="0"/>
          </p:cNvCxnSpPr>
          <p:nvPr/>
        </p:nvCxnSpPr>
        <p:spPr>
          <a:xfrm flipV="1">
            <a:off x="1565511" y="5615409"/>
            <a:ext cx="126811" cy="452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0" idx="0"/>
          </p:cNvCxnSpPr>
          <p:nvPr/>
        </p:nvCxnSpPr>
        <p:spPr>
          <a:xfrm flipH="1" flipV="1">
            <a:off x="2344003" y="5655940"/>
            <a:ext cx="129085" cy="233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 flipH="1">
            <a:off x="170116" y="2025272"/>
            <a:ext cx="406963" cy="36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4343" y="1838380"/>
            <a:ext cx="247439" cy="36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60" name="TextBox 59"/>
          <p:cNvSpPr txBox="1"/>
          <p:nvPr/>
        </p:nvSpPr>
        <p:spPr>
          <a:xfrm flipH="1">
            <a:off x="1676787" y="1848853"/>
            <a:ext cx="307749" cy="36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61" name="TextBox 60"/>
          <p:cNvSpPr txBox="1"/>
          <p:nvPr/>
        </p:nvSpPr>
        <p:spPr>
          <a:xfrm flipH="1">
            <a:off x="504060" y="5768412"/>
            <a:ext cx="307749" cy="36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 flipH="1">
            <a:off x="1403661" y="6069206"/>
            <a:ext cx="307749" cy="36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63" name="TextBox 62"/>
          <p:cNvSpPr txBox="1"/>
          <p:nvPr/>
        </p:nvSpPr>
        <p:spPr>
          <a:xfrm flipH="1">
            <a:off x="2319212" y="5888970"/>
            <a:ext cx="307749" cy="36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94355" y="2337419"/>
            <a:ext cx="1665027" cy="612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xfrm>
            <a:off x="4254972" y="4961235"/>
            <a:ext cx="1780042" cy="6459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4376677" y="2361009"/>
            <a:ext cx="1503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Peregrine</a:t>
            </a:r>
          </a:p>
          <a:p>
            <a:pPr algn="ctr"/>
            <a:r>
              <a:rPr lang="en-US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33272" y="4969400"/>
            <a:ext cx="1269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Employer</a:t>
            </a:r>
          </a:p>
          <a:p>
            <a:pPr algn="ctr"/>
            <a:r>
              <a:rPr lang="en-US" sz="2000"/>
              <a:t>Survey</a:t>
            </a: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6193673" y="2727632"/>
            <a:ext cx="649688" cy="41003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6175196" y="4795414"/>
            <a:ext cx="721541" cy="33662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2584370" y="3514102"/>
            <a:ext cx="1157594" cy="11457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2688681" y="3723465"/>
            <a:ext cx="9383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/>
              <a:t>Forms Survey</a:t>
            </a:r>
          </a:p>
        </p:txBody>
      </p:sp>
      <p:cxnSp>
        <p:nvCxnSpPr>
          <p:cNvPr id="89" name="Straight Arrow Connector 88"/>
          <p:cNvCxnSpPr/>
          <p:nvPr/>
        </p:nvCxnSpPr>
        <p:spPr>
          <a:xfrm>
            <a:off x="3843753" y="4092797"/>
            <a:ext cx="326511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58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Demonstration: Business Core LO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t>Re-define Learning Objectives</a:t>
            </a:r>
          </a:p>
          <a:p>
            <a:pPr lvl="1">
              <a:buAutoNum type="arabicPeriod"/>
            </a:pPr>
            <a:r>
              <a:t>Re-design Assessment Tools</a:t>
            </a:r>
          </a:p>
          <a:p>
            <a:pPr lvl="1">
              <a:buAutoNum type="arabicPeriod"/>
            </a:pPr>
            <a:r>
              <a:t>Implement Standardized Assessment Mechanisms</a:t>
            </a:r>
          </a:p>
          <a:p>
            <a:pPr lvl="1">
              <a:buAutoNum type="arabicPeriod"/>
            </a:pPr>
            <a:r>
              <a:t>Automate Data Collection and Processing</a:t>
            </a:r>
          </a:p>
          <a:p>
            <a:pPr lvl="1">
              <a:buAutoNum type="arabicPeriod"/>
            </a:pPr>
            <a:r>
              <a:t>Communicate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Re-define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Learning Objective: Evaluate socio-cultural and international diversity variables in decision 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Re-design Assessment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External Tool: Peregrine CPC Exam</a:t>
            </a:r>
          </a:p>
          <a:p>
            <a:pPr lvl="1"/>
            <a:r>
              <a:t>Internal Tool: Project Assignment “Ethics Case”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Implement Standardized Assessment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(Sereis of Screenshots)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Automate Data Collection and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3000"/>
              </a:spcBef>
              <a:buNone/>
            </a:pPr>
            <a:r>
              <a:rPr b="1"/>
              <a:t>Challenges</a:t>
            </a:r>
          </a:p>
          <a:p>
            <a:pPr lvl="1"/>
            <a:r>
              <a:t>Inconsistency in rubrics (e.g. word choices, typos, etc.)</a:t>
            </a:r>
          </a:p>
          <a:p>
            <a:pPr lvl="1"/>
            <a:r>
              <a:t>Variations in the data sources (e.g. external/internal, rubric/exam, etc.)</a:t>
            </a:r>
          </a:p>
          <a:p>
            <a:pPr lvl="1"/>
            <a:r>
              <a:t>Timely responses for feedback</a:t>
            </a:r>
          </a:p>
          <a:p>
            <a:pPr marL="0" indent="0">
              <a:spcBef>
                <a:spcPts val="3000"/>
              </a:spcBef>
              <a:buNone/>
            </a:pPr>
            <a:r>
              <a:rPr b="1"/>
              <a:t>Solutions</a:t>
            </a:r>
          </a:p>
          <a:p>
            <a:pPr lvl="1"/>
            <a:r>
              <a:t>Literal programming for reproducible analysis</a:t>
            </a:r>
          </a:p>
          <a:p>
            <a:pPr lvl="1"/>
            <a:r>
              <a:t>Iterative data processing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Communicate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Annual Department Retreat</a:t>
            </a:r>
          </a:p>
          <a:p>
            <a:pPr lvl="2"/>
            <a:r>
              <a:rPr dirty="0"/>
              <a:t>Assessment outcomes for core objectives</a:t>
            </a:r>
          </a:p>
          <a:p>
            <a:pPr lvl="2"/>
            <a:r>
              <a:rPr dirty="0"/>
              <a:t>Assessment outcomes for each program</a:t>
            </a:r>
          </a:p>
          <a:p>
            <a:pPr lvl="2"/>
            <a:r>
              <a:rPr dirty="0"/>
              <a:t>Strategy development</a:t>
            </a:r>
          </a:p>
          <a:p>
            <a:pPr marL="0" indent="0">
              <a:spcBef>
                <a:spcPts val="3000"/>
              </a:spcBef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A174-CF51-492C-BA4E-B0CE022E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3B438-D710-446A-9032-EFE09F7D2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Complementary Design in Action</a:t>
            </a:r>
          </a:p>
          <a:p>
            <a:pPr marL="0" indent="0">
              <a:buNone/>
            </a:pPr>
            <a:r>
              <a:rPr lang="en-US" dirty="0"/>
              <a:t>Challenge: Internal and external assessment outcomes are not directly comparable</a:t>
            </a:r>
          </a:p>
          <a:p>
            <a:pPr lvl="1"/>
            <a:r>
              <a:rPr lang="en-US" dirty="0"/>
              <a:t>Track the changes over time</a:t>
            </a:r>
          </a:p>
          <a:p>
            <a:pPr lvl="1"/>
            <a:r>
              <a:rPr lang="en-US" dirty="0"/>
              <a:t>Two-dimensional dynamics</a:t>
            </a:r>
          </a:p>
          <a:p>
            <a:pPr lvl="1"/>
            <a:r>
              <a:rPr lang="en-US" dirty="0"/>
              <a:t>Possible calibration</a:t>
            </a:r>
          </a:p>
        </p:txBody>
      </p:sp>
    </p:spTree>
    <p:extLst>
      <p:ext uri="{BB962C8B-B14F-4D97-AF65-F5344CB8AC3E}">
        <p14:creationId xmlns:p14="http://schemas.microsoft.com/office/powerpoint/2010/main" val="3725802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Graphs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Graph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&amp; Strategy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3000"/>
              </a:spcBef>
              <a:buNone/>
            </a:pPr>
            <a:r>
              <a:rPr b="1"/>
              <a:t>Annual Meeting &amp; Strategy Development</a:t>
            </a:r>
          </a:p>
          <a:p>
            <a:pPr lvl="1"/>
            <a:r>
              <a:t>Data analysis provided</a:t>
            </a:r>
          </a:p>
          <a:p>
            <a:pPr lvl="1"/>
            <a:r>
              <a:t>Discuss the findings with additional qualitative information from discutants</a:t>
            </a:r>
          </a:p>
          <a:p>
            <a:pPr lvl="1"/>
            <a:r>
              <a:t>Review the existing assessment tools in light of learning objectives</a:t>
            </a:r>
          </a:p>
          <a:p>
            <a:pPr lvl="1"/>
            <a:r>
              <a:t>Propose changes in assessment tools (and/or learning objectives)</a:t>
            </a:r>
          </a:p>
          <a:p>
            <a:pPr marL="0" indent="0">
              <a:spcBef>
                <a:spcPts val="3000"/>
              </a:spcBef>
              <a:buNone/>
            </a:pPr>
            <a:r>
              <a:rPr b="1"/>
              <a:t>Continuous Feedback</a:t>
            </a:r>
          </a:p>
          <a:p>
            <a:pPr lvl="1"/>
            <a:r>
              <a:t>Assessment Committee</a:t>
            </a:r>
          </a:p>
          <a:p>
            <a:pPr lvl="1"/>
            <a:r>
              <a:t>Curriculum Development Committee</a:t>
            </a:r>
          </a:p>
          <a:p>
            <a:pPr lvl="1"/>
            <a:r>
              <a:t>Individual faculty members (both regular and temporary)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/>
              <a:t>1. Associate Professor of Economic, California University</a:t>
            </a:r>
          </a:p>
          <a:p>
            <a:pPr marL="0" indent="0">
              <a:buNone/>
            </a:pPr>
            <a:r>
              <a:rPr sz="1800"/>
              <a:t>2. Visiting Assisstant Professor of Economics, California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486</Words>
  <Application>Microsoft Office PowerPoint</Application>
  <PresentationFormat>Widescreen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Developing Leadership Skills through Assessment</vt:lpstr>
      <vt:lpstr>Motivation: Why Care about Leadership?</vt:lpstr>
      <vt:lpstr>The Change</vt:lpstr>
      <vt:lpstr>Assessing Leadership: Business Core</vt:lpstr>
      <vt:lpstr>Multi-pronged Assessment Regime</vt:lpstr>
      <vt:lpstr>Automation of Data Collection &amp; Analysis</vt:lpstr>
      <vt:lpstr>Demonstration: Business Core LO 8</vt:lpstr>
      <vt:lpstr>1. Re-define Learning Objectives</vt:lpstr>
      <vt:lpstr>2. Re-design Assessment Tools</vt:lpstr>
      <vt:lpstr>3. Implement Standardized Assessment Mechanisms</vt:lpstr>
      <vt:lpstr>4. Automate Data Collection and Processing</vt:lpstr>
      <vt:lpstr>5. Communicate Feedback</vt:lpstr>
      <vt:lpstr>PowerPoint Presentation</vt:lpstr>
      <vt:lpstr>Single Measures</vt:lpstr>
      <vt:lpstr>Combined Measures</vt:lpstr>
      <vt:lpstr>Feedback &amp; Strategy Development</vt:lpstr>
      <vt:lpstr>Notes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</TotalTime>
  <Words>474</Words>
  <Application>Microsoft Office PowerPoint</Application>
  <PresentationFormat>On-screen Show (4:3)</PresentationFormat>
  <Paragraphs>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Century Gothic</vt:lpstr>
      <vt:lpstr>Vapor Trail</vt:lpstr>
      <vt:lpstr>Developing Leadership Skills through Assessment</vt:lpstr>
      <vt:lpstr>Introduction</vt:lpstr>
      <vt:lpstr>Learning Objectives</vt:lpstr>
      <vt:lpstr>Overview</vt:lpstr>
      <vt:lpstr>Motivation</vt:lpstr>
      <vt:lpstr>Resources and Constraints</vt:lpstr>
      <vt:lpstr>Challenges</vt:lpstr>
      <vt:lpstr>Solutions</vt:lpstr>
      <vt:lpstr>Step 1: Design &amp; Course Implimentation</vt:lpstr>
      <vt:lpstr>Learning Objectives &amp; Assessment Tools</vt:lpstr>
      <vt:lpstr>Standardized Objectives</vt:lpstr>
      <vt:lpstr>Complementary Design</vt:lpstr>
      <vt:lpstr>Standardized Rubrics</vt:lpstr>
      <vt:lpstr>Example</vt:lpstr>
      <vt:lpstr>Step 2: Data Collection &amp; Analysis</vt:lpstr>
      <vt:lpstr>Standardized Exam</vt:lpstr>
      <vt:lpstr>Rubrics in Leraning Management System</vt:lpstr>
      <vt:lpstr>Complementary Design in Action</vt:lpstr>
      <vt:lpstr>Data Processing</vt:lpstr>
      <vt:lpstr>Example</vt:lpstr>
      <vt:lpstr>Step 3: Feedback &amp; Strategy Development</vt:lpstr>
      <vt:lpstr>Annual Meeting &amp; Strategy Development</vt:lpstr>
      <vt:lpstr>Continuous Feedback</vt:lpstr>
      <vt:lpstr>Implementation Example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Leadership Skills through Assessment</dc:title>
  <dc:creator>Edmund Matecki; Kentaro Murayama</dc:creator>
  <cp:keywords/>
  <cp:lastModifiedBy>Murayama, Kentaro</cp:lastModifiedBy>
  <cp:revision>3</cp:revision>
  <dcterms:created xsi:type="dcterms:W3CDTF">2020-10-21T16:43:19Z</dcterms:created>
  <dcterms:modified xsi:type="dcterms:W3CDTF">2020-10-21T16:50:23Z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5-6, 2020</vt:lpwstr>
  </property>
  <property fmtid="{D5CDD505-2E9C-101B-9397-08002B2CF9AE}" pid="3" name="output">
    <vt:lpwstr/>
  </property>
  <property fmtid="{D5CDD505-2E9C-101B-9397-08002B2CF9AE}" pid="4" name="subtitle">
    <vt:lpwstr>ACBSP Region 2 Conference</vt:lpwstr>
  </property>
</Properties>
</file>